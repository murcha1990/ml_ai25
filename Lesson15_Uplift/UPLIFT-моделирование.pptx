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9" r:id="rId4"/>
    <p:sldId id="258" r:id="rId5"/>
    <p:sldId id="260" r:id="rId6"/>
    <p:sldId id="263" r:id="rId7"/>
    <p:sldId id="261" r:id="rId8"/>
    <p:sldId id="262" r:id="rId9"/>
    <p:sldId id="264" r:id="rId10"/>
    <p:sldId id="266" r:id="rId11"/>
    <p:sldId id="27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8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5" y="138"/>
      </p:cViewPr>
      <p:guideLst>
        <p:guide orient="horz" pos="28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6EB17-2548-6C5A-410E-3C55DAC5F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53D057-61D0-1A24-C822-4272958C0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28A487-104F-537E-4D5E-8CDC93DE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60980C-22CA-8FFD-957E-C23A656D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6FC38E-4836-DF98-5C95-2E4CF9D7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6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A9E3A-B0DE-2A0F-4425-7CBB3EBE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1F4C6F-9168-2FEF-ACD4-345347F43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C22D00-AD8C-2D23-8C98-6D8932AD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24352C-0EAB-F53D-BA1A-6B8D841A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7E6676-9542-F5BA-DC3A-4DE84B6A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06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4A5A4-9FF8-CF21-583D-28DEE0C9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64302E-5592-1940-FB8F-BFDB48F46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4BCBD3-08B2-10AC-F1F8-4A54E64C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CDEFE6-4BAE-3D88-F54D-973B3134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CADB25-2631-ACBF-B9A1-F2D6060E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94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F98EF-060F-A954-E553-FA850AFD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2A39C-F87B-D59F-FC8C-027794815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E348AB-414F-73F5-19D0-DDF3ACABF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ED7099-E255-5435-D508-B3BD32F6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6752B0-710C-DEA6-08A3-AA5B2FFE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71C7FB-5FAC-F14D-FE1C-5AA5578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577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FB37B-9602-7984-740D-57BACA688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143B19-6BD1-2B39-0A3F-81A098709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A4DD12-C82A-DC04-1EB2-4B0942036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D66621-1F64-D2B6-9170-E501EBA36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DD7A6E-200B-B86B-146A-4FB431E12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13F116-8483-0C0F-EB4F-5797CF5A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FDB5DF-50F7-02C1-917C-E96A3AB3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16DCCBD-E7A3-E784-270D-13222215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29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63E57-E1C3-B7B3-F51D-3109E315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F8F97B-F66B-712F-FE96-CE7F1021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AB4E59-16E4-CB29-398E-70145027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867757-2577-9A45-1E72-025799E3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81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CBDF332-3787-8A44-0320-33FC412F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D95EC2-1AE8-6FDF-5CCC-1D65A619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DEBC03-BCFF-2DFC-F770-505FC6FE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24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C4C9F-5415-9F57-7BF4-075BB783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9100CF-EB78-AB0D-A9C3-2EF663E91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EFC256-7660-4AED-F32C-42DD3C54E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43F0B1-A888-33E2-90D8-18E3EBAE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683A62-F545-B18A-EF10-275D4C112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469418-C197-1399-9F6E-0CCA768E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20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47E9C-19C4-B4DD-F5AB-6C8BA305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46F5DE-71B5-4127-5E8F-C4B77DFBB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2F3D33-C29F-D2A3-5497-9E60982E3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FF850D-9052-D1AE-87C0-A78D6E00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FE48EA-9024-C4C5-A019-EF18F476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DC0B7E-24D3-2343-BE7D-7C57601B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96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A3131-AF7D-4150-36C0-EAFF8F90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CF5AD5-0184-B893-1D5D-5B18F2FCF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4CD0DE-ECB3-12DD-72D8-525584752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15511E-B42E-1933-9C6C-263CA991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B6D9D8-AEF5-1E62-2D13-12840B51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06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EB27B2A-385C-2E22-2C86-9589B1B45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52C680-1B05-D1AE-9DAF-0358EF2D7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113B1-0C99-F1D7-6A82-6478F56AD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9FC10D-E072-2D26-5104-94CC9012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9FFA4-B1C7-01B1-9A4A-83D0F5E7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77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D649B-9E6B-4376-DE9B-D811AEDB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88E173-F64B-B645-2B8F-509DDD077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529430-8A7F-C947-4CE9-7AC8E8A2D8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789EF-5039-4586-8736-AA5ACC556C97}" type="datetimeFigureOut">
              <a:rPr lang="ru-RU" smtClean="0"/>
              <a:t>08.02.2025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947464-1DC1-E4AC-F128-063E4E5F6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78C9F6-48AA-58CA-8E91-E502F6F3B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FBB6B-78B9-4E8B-835C-6AD157793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3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BCFE17-A4CD-B629-45F2-BD1960659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UPLIFT-</a:t>
            </a:r>
            <a:r>
              <a:rPr lang="ru-RU" dirty="0"/>
              <a:t>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FDE0E5-727F-D269-F57D-E1B4ED3D65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Артем Савельев</a:t>
            </a:r>
          </a:p>
        </p:txBody>
      </p:sp>
    </p:spTree>
    <p:extLst>
      <p:ext uri="{BB962C8B-B14F-4D97-AF65-F5344CB8AC3E}">
        <p14:creationId xmlns:p14="http://schemas.microsoft.com/office/powerpoint/2010/main" val="226548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329E1-E093-EE8A-B214-D22140B5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 мне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0415F0-3DE2-C945-846C-C6549CBF9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101953" cy="4351338"/>
          </a:xfrm>
        </p:spPr>
        <p:txBody>
          <a:bodyPr>
            <a:normAutofit/>
          </a:bodyPr>
          <a:lstStyle/>
          <a:p>
            <a:r>
              <a:rPr lang="ru-RU" dirty="0"/>
              <a:t>Меня зовут Артем</a:t>
            </a:r>
            <a:r>
              <a:rPr lang="en-US" dirty="0"/>
              <a:t> </a:t>
            </a:r>
            <a:r>
              <a:rPr lang="ru-RU" dirty="0"/>
              <a:t>Савельев  </a:t>
            </a:r>
          </a:p>
          <a:p>
            <a:r>
              <a:rPr lang="ru-RU" dirty="0"/>
              <a:t>Я работаю Data </a:t>
            </a:r>
            <a:r>
              <a:rPr lang="ru-RU" dirty="0" err="1"/>
              <a:t>Scientist'ом</a:t>
            </a:r>
            <a:r>
              <a:rPr lang="ru-RU" dirty="0"/>
              <a:t> в Сбербанке</a:t>
            </a:r>
          </a:p>
          <a:p>
            <a:r>
              <a:rPr lang="ru-RU" dirty="0"/>
              <a:t>Наша команда отвечает за прикладной </a:t>
            </a:r>
            <a:r>
              <a:rPr lang="en-US" dirty="0"/>
              <a:t>AI </a:t>
            </a:r>
            <a:r>
              <a:rPr lang="ru-RU" dirty="0"/>
              <a:t>при продаже инвестиционных продуктов</a:t>
            </a:r>
          </a:p>
          <a:p>
            <a:r>
              <a:rPr lang="ru-RU" dirty="0"/>
              <a:t>В прошлом году одной из моих задач была доработка существующего </a:t>
            </a:r>
            <a:r>
              <a:rPr lang="en-US" dirty="0" err="1"/>
              <a:t>AutoML</a:t>
            </a:r>
            <a:r>
              <a:rPr lang="en-US" dirty="0"/>
              <a:t> </a:t>
            </a:r>
            <a:r>
              <a:rPr lang="ru-RU" dirty="0" err="1"/>
              <a:t>пайплайна</a:t>
            </a:r>
            <a:r>
              <a:rPr lang="ru-RU" dirty="0"/>
              <a:t> под </a:t>
            </a:r>
            <a:r>
              <a:rPr lang="en-US" dirty="0"/>
              <a:t>UPLIFT</a:t>
            </a:r>
            <a:r>
              <a:rPr lang="ru-RU" dirty="0"/>
              <a:t> моделирование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B438315-4756-0152-4511-5B751C387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043" y="1853765"/>
            <a:ext cx="2871334" cy="430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41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45A7E-3B42-5B00-ED40-2DF77EEE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196CC-BE65-25CE-D359-A8BC6C00B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Recap</a:t>
            </a:r>
          </a:p>
          <a:p>
            <a:pPr marL="514350" indent="-514350">
              <a:buAutoNum type="arabicPeriod"/>
            </a:pPr>
            <a:r>
              <a:rPr lang="en-US" dirty="0"/>
              <a:t>Uplift</a:t>
            </a:r>
            <a:r>
              <a:rPr lang="ru-RU" dirty="0"/>
              <a:t> и классические задачи </a:t>
            </a:r>
            <a:r>
              <a:rPr lang="en-US" dirty="0"/>
              <a:t>ML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/>
              <a:t>Флаг коммуникации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Подходы к решению задач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Практика 1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Подходы к решению задач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r>
              <a:rPr lang="en-US" dirty="0"/>
              <a:t> (</a:t>
            </a:r>
            <a:r>
              <a:rPr lang="ru-RU" dirty="0"/>
              <a:t>продолжение)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Преобразование классов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Uplift</a:t>
            </a:r>
            <a:r>
              <a:rPr lang="ru-RU" dirty="0"/>
              <a:t>-деревья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Метрики качества </a:t>
            </a:r>
            <a:r>
              <a:rPr lang="en-US" dirty="0"/>
              <a:t>Uplift </a:t>
            </a:r>
            <a:r>
              <a:rPr lang="ru-RU" dirty="0"/>
              <a:t>моделирования</a:t>
            </a:r>
          </a:p>
          <a:p>
            <a:pPr marL="514350" indent="-514350">
              <a:buAutoNum type="arabicPeriod"/>
            </a:pPr>
            <a:r>
              <a:rPr lang="ru-RU" dirty="0"/>
              <a:t>Практика 2</a:t>
            </a:r>
          </a:p>
          <a:p>
            <a:pPr marL="514350" indent="-514350">
              <a:buAutoNum type="arabicPeriod"/>
            </a:pPr>
            <a:r>
              <a:rPr lang="ru-RU" dirty="0"/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71289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647B8-31DD-738F-EC72-5191C2E4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07143E-7531-0A51-7207-656B8481D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38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>
                <a:latin typeface="+mj-lt"/>
              </a:rPr>
              <a:t>Наша задача – оценить чистый эффект от коммуникации</a:t>
            </a:r>
            <a:endParaRPr lang="en-US" dirty="0">
              <a:latin typeface="+mj-lt"/>
            </a:endParaRPr>
          </a:p>
          <a:p>
            <a:r>
              <a:rPr lang="ru-RU" dirty="0">
                <a:latin typeface="+mj-lt"/>
              </a:rPr>
              <a:t>4 типа клиентов</a:t>
            </a:r>
            <a:r>
              <a:rPr lang="en-US" dirty="0">
                <a:latin typeface="+mj-lt"/>
              </a:rPr>
              <a:t> </a:t>
            </a:r>
            <a:r>
              <a:rPr lang="ru-RU" dirty="0">
                <a:latin typeface="+mj-lt"/>
              </a:rPr>
              <a:t>по отношению к коммуникации</a:t>
            </a:r>
          </a:p>
          <a:p>
            <a:r>
              <a:rPr lang="ru-RU" b="0" dirty="0">
                <a:solidFill>
                  <a:srgbClr val="222222"/>
                </a:solidFill>
                <a:effectLst/>
                <a:latin typeface="+mj-lt"/>
              </a:rPr>
              <a:t>Поста</a:t>
            </a:r>
            <a:r>
              <a:rPr lang="ru-RU" dirty="0">
                <a:solidFill>
                  <a:srgbClr val="222222"/>
                </a:solidFill>
                <a:latin typeface="+mj-lt"/>
              </a:rPr>
              <a:t>новка задачи: 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uplift(X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​)=P(Y∣X=X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i​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,W=1)−P(Y∣X=X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i​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,W=0)</a:t>
            </a:r>
            <a:endParaRPr lang="ru-RU" b="0" dirty="0">
              <a:solidFill>
                <a:srgbClr val="222222"/>
              </a:solidFill>
              <a:effectLst/>
              <a:latin typeface="+mj-lt"/>
            </a:endParaRPr>
          </a:p>
          <a:p>
            <a:r>
              <a:rPr lang="ru-RU" dirty="0">
                <a:solidFill>
                  <a:srgbClr val="222222"/>
                </a:solidFill>
                <a:latin typeface="+mj-lt"/>
              </a:rPr>
              <a:t>Метрики качества: </a:t>
            </a:r>
            <a:r>
              <a:rPr lang="en-US" dirty="0" err="1">
                <a:solidFill>
                  <a:srgbClr val="222222"/>
                </a:solidFill>
                <a:latin typeface="+mj-lt"/>
              </a:rPr>
              <a:t>uplift@k</a:t>
            </a:r>
            <a:r>
              <a:rPr lang="en-US" dirty="0">
                <a:solidFill>
                  <a:srgbClr val="222222"/>
                </a:solidFill>
                <a:latin typeface="+mj-lt"/>
              </a:rPr>
              <a:t>, Uplift by percentile, </a:t>
            </a:r>
            <a:r>
              <a:rPr lang="en-US" dirty="0" err="1">
                <a:solidFill>
                  <a:srgbClr val="222222"/>
                </a:solidFill>
                <a:latin typeface="+mj-lt"/>
              </a:rPr>
              <a:t>qini</a:t>
            </a:r>
            <a:r>
              <a:rPr lang="en-US" dirty="0">
                <a:solidFill>
                  <a:srgbClr val="222222"/>
                </a:solidFill>
                <a:latin typeface="+mj-lt"/>
              </a:rPr>
              <a:t>, uplift curve</a:t>
            </a:r>
            <a:endParaRPr lang="en-US" b="0" dirty="0">
              <a:solidFill>
                <a:srgbClr val="222222"/>
              </a:solidFill>
              <a:effectLst/>
              <a:latin typeface="+mj-lt"/>
            </a:endParaRPr>
          </a:p>
        </p:txBody>
      </p:sp>
      <p:pic>
        <p:nvPicPr>
          <p:cNvPr id="1026" name="Picture 2" descr="uplift modeling chart">
            <a:extLst>
              <a:ext uri="{FF2B5EF4-FFF2-40B4-BE49-F238E27FC236}">
                <a16:creationId xmlns:a16="http://schemas.microsoft.com/office/drawing/2014/main" id="{3A68BE9E-1A82-5EC3-B48B-7CD343316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861" y="3429000"/>
            <a:ext cx="3638467" cy="344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505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7F293-C31F-09F2-63C5-5DCEC8F7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9B15C-3C93-7266-A958-1E51B349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Uplift</a:t>
            </a:r>
            <a:r>
              <a:rPr lang="ru-RU" dirty="0"/>
              <a:t> и классические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A5CD9-C6BD-E9C4-E95E-8C49BA80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38"/>
            <a:ext cx="5286896" cy="4351338"/>
          </a:xfrm>
        </p:spPr>
        <p:txBody>
          <a:bodyPr>
            <a:normAutofit fontScale="92500"/>
          </a:bodyPr>
          <a:lstStyle/>
          <a:p>
            <a:r>
              <a:rPr lang="ru-RU" sz="2400" dirty="0">
                <a:latin typeface="+mj-lt"/>
              </a:rPr>
              <a:t>Модель склонности к покупке скорее всего будет искать лояльных клиентов</a:t>
            </a:r>
          </a:p>
          <a:p>
            <a:r>
              <a:rPr lang="ru-RU" sz="2400" dirty="0">
                <a:latin typeface="+mj-lt"/>
              </a:rPr>
              <a:t>Прогноз реакции на коммуникацию невозможен так одному и тому же человеку нельзя и отправить, и не отправить коммуникацию</a:t>
            </a:r>
          </a:p>
          <a:p>
            <a:r>
              <a:rPr lang="ru-RU" sz="2400" dirty="0">
                <a:latin typeface="+mj-lt"/>
              </a:rPr>
              <a:t>В отличие от классических задач </a:t>
            </a:r>
            <a:r>
              <a:rPr lang="ru-RU" sz="2400" b="1" dirty="0">
                <a:latin typeface="+mj-lt"/>
              </a:rPr>
              <a:t>нет правильных ответов</a:t>
            </a:r>
          </a:p>
          <a:p>
            <a:r>
              <a:rPr lang="ru-RU" sz="2400" dirty="0">
                <a:latin typeface="+mj-lt"/>
              </a:rPr>
              <a:t>Нет возможности оценить качество модели привычным образом</a:t>
            </a:r>
            <a:endParaRPr lang="en-US" sz="2400" dirty="0">
              <a:latin typeface="+mj-lt"/>
            </a:endParaRPr>
          </a:p>
          <a:p>
            <a:r>
              <a:rPr lang="ru-RU" sz="2400" dirty="0">
                <a:latin typeface="+mj-lt"/>
              </a:rPr>
              <a:t>Новая сущность – флаг коммуникации, </a:t>
            </a:r>
            <a:r>
              <a:rPr lang="en-US" sz="2400" dirty="0">
                <a:latin typeface="+mj-lt"/>
              </a:rPr>
              <a:t>W, </a:t>
            </a:r>
            <a:r>
              <a:rPr lang="ru-RU" sz="2400" dirty="0">
                <a:latin typeface="+mj-lt"/>
              </a:rPr>
              <a:t>помимо признаков и </a:t>
            </a:r>
            <a:r>
              <a:rPr lang="ru-RU" sz="2400" dirty="0" err="1">
                <a:latin typeface="+mj-lt"/>
              </a:rPr>
              <a:t>таргета</a:t>
            </a:r>
            <a:endParaRPr lang="ru-RU" sz="2400" dirty="0">
              <a:latin typeface="+mj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70E9B0-8E61-F775-1968-79FB3E9CD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909" y="1614974"/>
            <a:ext cx="5781763" cy="428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8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01826-2E38-072D-2438-8D03406DF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1CDF1-508A-2AC6-A6FA-E30979C8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Флаг коммуникации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DACE9B-A365-9BBD-1990-FF15E32D4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3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+mj-lt"/>
              </a:rPr>
              <a:t>W=1 – </a:t>
            </a:r>
            <a:r>
              <a:rPr lang="ru-RU" sz="2400" dirty="0">
                <a:latin typeface="+mj-lt"/>
              </a:rPr>
              <a:t>целевая группа</a:t>
            </a:r>
            <a:r>
              <a:rPr lang="en-US" sz="2400" dirty="0">
                <a:latin typeface="+mj-lt"/>
              </a:rPr>
              <a:t>, W=0 – </a:t>
            </a:r>
            <a:r>
              <a:rPr lang="ru-RU" sz="2400" dirty="0">
                <a:latin typeface="+mj-lt"/>
              </a:rPr>
              <a:t>контрольная группа (те люди, которые не получали коммуникацию)</a:t>
            </a:r>
          </a:p>
          <a:p>
            <a:r>
              <a:rPr lang="ru-RU" sz="2400" dirty="0">
                <a:latin typeface="+mj-lt"/>
              </a:rPr>
              <a:t>И контрольная, и целевая группа должны входить в тренировочный и тестовый датасет</a:t>
            </a:r>
          </a:p>
          <a:p>
            <a:r>
              <a:rPr lang="ru-RU" sz="2400" dirty="0">
                <a:latin typeface="+mj-lt"/>
              </a:rPr>
              <a:t>Клиенты из контрольной и целевой группы должны быть однородны, то есть быть из одной популяции, разбиение не должно зависеть от признаков</a:t>
            </a:r>
          </a:p>
          <a:p>
            <a:r>
              <a:rPr lang="ru-RU" sz="2400" dirty="0">
                <a:latin typeface="+mj-lt"/>
              </a:rPr>
              <a:t>Например, если вы продаете, игровые приставки и у вас в целевой группе люди возраста 20-30 лет из Москвы, а в контрольной – пенсионеры из сельской местности, то эффект кампании будет завышен и </a:t>
            </a:r>
            <a:r>
              <a:rPr lang="en-US" sz="2400" dirty="0">
                <a:latin typeface="+mj-lt"/>
              </a:rPr>
              <a:t>Uplift</a:t>
            </a:r>
            <a:r>
              <a:rPr lang="ru-RU" sz="2400" dirty="0">
                <a:latin typeface="+mj-lt"/>
              </a:rPr>
              <a:t>-модель на этом строить нельзя</a:t>
            </a:r>
          </a:p>
          <a:p>
            <a:r>
              <a:rPr lang="ru-RU" sz="2400" dirty="0">
                <a:latin typeface="+mj-lt"/>
              </a:rPr>
              <a:t>На практике иногда контрольная и целевая группа разных кампаний по одному продукту могут пересекаться и на таких данных нельзя строить модели</a:t>
            </a:r>
          </a:p>
        </p:txBody>
      </p:sp>
    </p:spTree>
    <p:extLst>
      <p:ext uri="{BB962C8B-B14F-4D97-AF65-F5344CB8AC3E}">
        <p14:creationId xmlns:p14="http://schemas.microsoft.com/office/powerpoint/2010/main" val="37482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13E94-31DB-E2F5-81D4-517EEC26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9E3925-4F29-865B-97D5-F1F733E1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7512" y="3038476"/>
            <a:ext cx="6276975" cy="488950"/>
          </a:xfrm>
        </p:spPr>
        <p:txBody>
          <a:bodyPr/>
          <a:lstStyle/>
          <a:p>
            <a:pPr marL="0" indent="0" algn="ctr">
              <a:buNone/>
            </a:pP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uplift(X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​)=P(Y∣X=X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i​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,W=1)−P(Y∣X=X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i​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,W=0)</a:t>
            </a:r>
            <a:endParaRPr lang="en-US" b="0" dirty="0">
              <a:solidFill>
                <a:srgbClr val="222222"/>
              </a:solidFill>
              <a:effectLst/>
              <a:latin typeface="+mj-lt"/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29E272CC-AF4A-4FBF-C7D4-E0495581DC7D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4907756" y="3429000"/>
            <a:ext cx="1188244" cy="181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BD99D7D-9A89-2046-0AF5-0660786B5D55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096000" y="3429000"/>
            <a:ext cx="1185863" cy="181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2">
            <a:extLst>
              <a:ext uri="{FF2B5EF4-FFF2-40B4-BE49-F238E27FC236}">
                <a16:creationId xmlns:a16="http://schemas.microsoft.com/office/drawing/2014/main" id="{5216FC7F-0592-223A-EF08-4CB9DDF1A111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+mj-lt"/>
              </a:rPr>
              <a:t>Подход заключается в том, что мы прогнозируем каждую из вероятностей в формуле для </a:t>
            </a:r>
            <a:r>
              <a:rPr lang="en-US" sz="2400" dirty="0">
                <a:latin typeface="+mj-lt"/>
              </a:rPr>
              <a:t>Uplift </a:t>
            </a:r>
            <a:r>
              <a:rPr lang="ru-RU" sz="2400" dirty="0">
                <a:latin typeface="+mj-lt"/>
              </a:rPr>
              <a:t>с помощью классических </a:t>
            </a:r>
            <a:r>
              <a:rPr lang="en-US" sz="2400" dirty="0">
                <a:latin typeface="+mj-lt"/>
              </a:rPr>
              <a:t>ML</a:t>
            </a:r>
            <a:r>
              <a:rPr lang="ru-RU" sz="2400" dirty="0">
                <a:latin typeface="+mj-lt"/>
              </a:rPr>
              <a:t>-моделей, а затем вычисляем </a:t>
            </a:r>
            <a:r>
              <a:rPr lang="en-US" sz="2400" dirty="0">
                <a:latin typeface="+mj-lt"/>
              </a:rPr>
              <a:t>Uplift. 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BD4DAE14-24FF-497A-86ED-5348F4F0ABAF}"/>
              </a:ext>
            </a:extLst>
          </p:cNvPr>
          <p:cNvSpPr txBox="1">
            <a:spLocks/>
          </p:cNvSpPr>
          <p:nvPr/>
        </p:nvSpPr>
        <p:spPr>
          <a:xfrm>
            <a:off x="2957512" y="5240336"/>
            <a:ext cx="6276975" cy="14144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rgbClr val="222222"/>
                </a:solidFill>
                <a:latin typeface="+mj-lt"/>
              </a:rPr>
              <a:t>Solomodel</a:t>
            </a:r>
            <a:r>
              <a:rPr lang="en-US" dirty="0">
                <a:solidFill>
                  <a:srgbClr val="222222"/>
                </a:solidFill>
                <a:latin typeface="+mj-lt"/>
              </a:rPr>
              <a:t> – </a:t>
            </a:r>
            <a:r>
              <a:rPr lang="ru-RU" dirty="0">
                <a:solidFill>
                  <a:srgbClr val="222222"/>
                </a:solidFill>
                <a:latin typeface="+mj-lt"/>
              </a:rPr>
              <a:t>обучаем одну модель и каждого клиента </a:t>
            </a:r>
            <a:r>
              <a:rPr lang="ru-RU" dirty="0" err="1">
                <a:solidFill>
                  <a:srgbClr val="222222"/>
                </a:solidFill>
                <a:latin typeface="+mj-lt"/>
              </a:rPr>
              <a:t>предиктим</a:t>
            </a:r>
            <a:r>
              <a:rPr lang="ru-RU" dirty="0">
                <a:solidFill>
                  <a:srgbClr val="222222"/>
                </a:solidFill>
                <a:latin typeface="+mj-lt"/>
              </a:rPr>
              <a:t> дважды с коммуникацией и без неё. Флаг коммуникации – признак, на котором обучаемся, </a:t>
            </a:r>
            <a:r>
              <a:rPr lang="ru-RU" b="1" dirty="0">
                <a:solidFill>
                  <a:srgbClr val="222222"/>
                </a:solidFill>
                <a:latin typeface="+mj-lt"/>
              </a:rPr>
              <a:t>но для </a:t>
            </a:r>
            <a:r>
              <a:rPr lang="ru-RU" b="1" dirty="0" err="1">
                <a:solidFill>
                  <a:srgbClr val="222222"/>
                </a:solidFill>
                <a:latin typeface="+mj-lt"/>
              </a:rPr>
              <a:t>предикта</a:t>
            </a:r>
            <a:r>
              <a:rPr lang="ru-RU" b="1" dirty="0">
                <a:solidFill>
                  <a:srgbClr val="222222"/>
                </a:solidFill>
                <a:latin typeface="+mj-lt"/>
              </a:rPr>
              <a:t> мы его не используем </a:t>
            </a:r>
            <a:endParaRPr lang="en-US" b="1" dirty="0">
              <a:solidFill>
                <a:srgbClr val="22222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3399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A793-B8AE-1EC5-6236-67C86F34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B5BA4-CFCC-E46C-5EEA-F0BE4D70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78B6C7B-0338-636A-37B9-F905E9B3E856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+mj-lt"/>
              </a:rPr>
              <a:t>Подход заключается в том, что мы прогнозируем каждую из вероятностей в формуле для </a:t>
            </a:r>
            <a:r>
              <a:rPr lang="en-US" sz="2400" dirty="0">
                <a:latin typeface="+mj-lt"/>
              </a:rPr>
              <a:t>Uplift </a:t>
            </a:r>
            <a:r>
              <a:rPr lang="ru-RU" sz="2400" dirty="0">
                <a:latin typeface="+mj-lt"/>
              </a:rPr>
              <a:t>с помощью классических </a:t>
            </a:r>
            <a:r>
              <a:rPr lang="en-US" sz="2400" dirty="0">
                <a:latin typeface="+mj-lt"/>
              </a:rPr>
              <a:t>ML</a:t>
            </a:r>
            <a:r>
              <a:rPr lang="ru-RU" sz="2400" dirty="0">
                <a:latin typeface="+mj-lt"/>
              </a:rPr>
              <a:t>-моделей, а затем вычисляем </a:t>
            </a:r>
            <a:r>
              <a:rPr lang="en-US" sz="2400" dirty="0">
                <a:latin typeface="+mj-lt"/>
              </a:rPr>
              <a:t>Uplift.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2C2FE68-72B7-3AE3-DE1A-B8FA7FD90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979" y="2540695"/>
            <a:ext cx="7876042" cy="411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41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FCCAE-A0E3-3644-95C5-A2428E3A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4488A-D2AB-4A8F-FCE2-732CE0AB5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09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Практика – построение первой </a:t>
            </a:r>
            <a:r>
              <a:rPr lang="en-US" b="1" dirty="0"/>
              <a:t>Uplift </a:t>
            </a:r>
            <a:r>
              <a:rPr lang="ru-RU" b="1" dirty="0"/>
              <a:t>модели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063F30EF-7359-E724-36E2-3B5ADACBAE22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651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D610-7D72-5300-4E34-63083BD8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2E21D-EEFF-7997-16AD-0CD0D2DA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62760F-B221-BCE5-123D-EC0D70662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7512" y="3038476"/>
            <a:ext cx="6276975" cy="488950"/>
          </a:xfrm>
        </p:spPr>
        <p:txBody>
          <a:bodyPr/>
          <a:lstStyle/>
          <a:p>
            <a:pPr marL="0" indent="0" algn="ctr">
              <a:buNone/>
            </a:pP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uplift(X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​)=P(Y∣X=X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i​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,W=1)−P(Y∣X=X</a:t>
            </a:r>
            <a:r>
              <a:rPr lang="pl-PL" b="0" baseline="-25000" dirty="0">
                <a:solidFill>
                  <a:srgbClr val="222222"/>
                </a:solidFill>
                <a:effectLst/>
                <a:latin typeface="+mj-lt"/>
              </a:rPr>
              <a:t>i​</a:t>
            </a:r>
            <a:r>
              <a:rPr lang="pl-PL" b="0" dirty="0">
                <a:solidFill>
                  <a:srgbClr val="222222"/>
                </a:solidFill>
                <a:effectLst/>
                <a:latin typeface="+mj-lt"/>
              </a:rPr>
              <a:t>,W=0)</a:t>
            </a:r>
            <a:endParaRPr lang="en-US" b="0" dirty="0">
              <a:solidFill>
                <a:srgbClr val="222222"/>
              </a:solidFill>
              <a:effectLst/>
              <a:latin typeface="+mj-lt"/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4A63A8DB-2560-A0FA-A8CC-C2014B0A7CA2}"/>
              </a:ext>
            </a:extLst>
          </p:cNvPr>
          <p:cNvCxnSpPr>
            <a:cxnSpLocks/>
          </p:cNvCxnSpPr>
          <p:nvPr/>
        </p:nvCxnSpPr>
        <p:spPr>
          <a:xfrm flipV="1">
            <a:off x="4907756" y="3429000"/>
            <a:ext cx="0" cy="1077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DA92D49-4CD1-3EAF-389D-0E80BC28E6E0}"/>
              </a:ext>
            </a:extLst>
          </p:cNvPr>
          <p:cNvCxnSpPr>
            <a:cxnSpLocks/>
          </p:cNvCxnSpPr>
          <p:nvPr/>
        </p:nvCxnSpPr>
        <p:spPr>
          <a:xfrm flipV="1">
            <a:off x="7275513" y="3429000"/>
            <a:ext cx="0" cy="109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2">
            <a:extLst>
              <a:ext uri="{FF2B5EF4-FFF2-40B4-BE49-F238E27FC236}">
                <a16:creationId xmlns:a16="http://schemas.microsoft.com/office/drawing/2014/main" id="{DE9DDD22-7D31-3BBF-A020-AE9A386749AB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+mj-lt"/>
              </a:rPr>
              <a:t>Подход заключается в том, что мы прогнозируем каждую из вероятностей в формуле для </a:t>
            </a:r>
            <a:r>
              <a:rPr lang="en-US" sz="2400" dirty="0">
                <a:latin typeface="+mj-lt"/>
              </a:rPr>
              <a:t>Uplift </a:t>
            </a:r>
            <a:r>
              <a:rPr lang="ru-RU" sz="2400" dirty="0">
                <a:latin typeface="+mj-lt"/>
              </a:rPr>
              <a:t>с помощью классических </a:t>
            </a:r>
            <a:r>
              <a:rPr lang="en-US" sz="2400" dirty="0">
                <a:latin typeface="+mj-lt"/>
              </a:rPr>
              <a:t>ML</a:t>
            </a:r>
            <a:r>
              <a:rPr lang="ru-RU" sz="2400" dirty="0">
                <a:latin typeface="+mj-lt"/>
              </a:rPr>
              <a:t>-моделей, а затем вычисляем </a:t>
            </a:r>
            <a:r>
              <a:rPr lang="en-US" sz="2400" dirty="0">
                <a:latin typeface="+mj-lt"/>
              </a:rPr>
              <a:t>Uplift. 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8A102603-11D9-6CF2-22F7-7AB3814A202B}"/>
              </a:ext>
            </a:extLst>
          </p:cNvPr>
          <p:cNvSpPr txBox="1">
            <a:spLocks/>
          </p:cNvSpPr>
          <p:nvPr/>
        </p:nvSpPr>
        <p:spPr>
          <a:xfrm>
            <a:off x="2957512" y="5367336"/>
            <a:ext cx="6276975" cy="1414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222222"/>
                </a:solidFill>
                <a:latin typeface="+mj-lt"/>
              </a:rPr>
              <a:t>Twomodel</a:t>
            </a:r>
            <a:r>
              <a:rPr lang="en-US" dirty="0">
                <a:solidFill>
                  <a:srgbClr val="222222"/>
                </a:solidFill>
                <a:latin typeface="+mj-lt"/>
              </a:rPr>
              <a:t> – </a:t>
            </a:r>
            <a:r>
              <a:rPr lang="ru-RU" dirty="0">
                <a:solidFill>
                  <a:srgbClr val="222222"/>
                </a:solidFill>
                <a:latin typeface="+mj-lt"/>
              </a:rPr>
              <a:t>обучаем две независимые/зависимые модели на целевой и контрольной группе</a:t>
            </a:r>
            <a:endParaRPr lang="en-US" b="1" dirty="0">
              <a:solidFill>
                <a:srgbClr val="222222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B3B5C4-30E8-4862-B081-E29D39220CB0}"/>
              </a:ext>
            </a:extLst>
          </p:cNvPr>
          <p:cNvSpPr txBox="1"/>
          <p:nvPr/>
        </p:nvSpPr>
        <p:spPr>
          <a:xfrm>
            <a:off x="4403385" y="4520317"/>
            <a:ext cx="1008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22222"/>
                </a:solidFill>
                <a:latin typeface="+mj-lt"/>
              </a:rPr>
              <a:t>Model_t</a:t>
            </a:r>
            <a:r>
              <a:rPr lang="en-US" dirty="0">
                <a:solidFill>
                  <a:srgbClr val="222222"/>
                </a:solidFill>
                <a:latin typeface="+mj-lt"/>
              </a:rPr>
              <a:t> 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3ED63-0A47-8709-7B0D-B162D4EE3CFF}"/>
              </a:ext>
            </a:extLst>
          </p:cNvPr>
          <p:cNvSpPr txBox="1"/>
          <p:nvPr/>
        </p:nvSpPr>
        <p:spPr>
          <a:xfrm>
            <a:off x="6776066" y="4524652"/>
            <a:ext cx="1008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22222"/>
                </a:solidFill>
                <a:latin typeface="+mj-lt"/>
              </a:rPr>
              <a:t>Model_c</a:t>
            </a:r>
            <a:r>
              <a:rPr lang="en-US" dirty="0">
                <a:solidFill>
                  <a:srgbClr val="222222"/>
                </a:solidFill>
                <a:latin typeface="+mj-lt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782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6F702-6742-772D-2287-F604FA91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64735-3BCF-525F-F52C-BC44608D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0F1B2294-AC9C-6C94-D880-9795AE0896A5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+mj-lt"/>
              </a:rPr>
              <a:t>Подход заключается в том, что мы прогнозируем каждую из вероятностей в формуле для </a:t>
            </a:r>
            <a:r>
              <a:rPr lang="en-US" sz="2400" dirty="0">
                <a:latin typeface="+mj-lt"/>
              </a:rPr>
              <a:t>Uplift </a:t>
            </a:r>
            <a:r>
              <a:rPr lang="ru-RU" sz="2400" dirty="0">
                <a:latin typeface="+mj-lt"/>
              </a:rPr>
              <a:t>с помощью классических </a:t>
            </a:r>
            <a:r>
              <a:rPr lang="en-US" sz="2400" dirty="0">
                <a:latin typeface="+mj-lt"/>
              </a:rPr>
              <a:t>ML</a:t>
            </a:r>
            <a:r>
              <a:rPr lang="ru-RU" sz="2400" dirty="0">
                <a:latin typeface="+mj-lt"/>
              </a:rPr>
              <a:t>-моделей, а затем вычисляем </a:t>
            </a:r>
            <a:r>
              <a:rPr lang="en-US" sz="2400" dirty="0">
                <a:latin typeface="+mj-lt"/>
              </a:rPr>
              <a:t>Uplift.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7282965-E4B6-BF70-1F77-AC55F6E97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385" y="2792601"/>
            <a:ext cx="6963229" cy="357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016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058D0-F1B8-4359-085B-44595C38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5098-FDC8-06F9-A196-C8136FD1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2B893582-D1C6-C609-BC27-D4573CB26EA2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latin typeface="+mj-lt"/>
              </a:rPr>
              <a:t>Для </a:t>
            </a:r>
            <a:r>
              <a:rPr lang="en-US" sz="2400" dirty="0">
                <a:latin typeface="+mj-lt"/>
              </a:rPr>
              <a:t>Uplift-</a:t>
            </a:r>
            <a:r>
              <a:rPr lang="ru-RU" sz="2400" dirty="0">
                <a:latin typeface="+mj-lt"/>
              </a:rPr>
              <a:t>моделей критически важна калибровка моделей</a:t>
            </a:r>
            <a:r>
              <a:rPr lang="en-US" sz="2400" dirty="0">
                <a:latin typeface="+mj-lt"/>
              </a:rPr>
              <a:t>.</a:t>
            </a:r>
            <a:endParaRPr lang="ru-RU" sz="2400" dirty="0">
              <a:latin typeface="+mj-lt"/>
            </a:endParaRPr>
          </a:p>
          <a:p>
            <a:r>
              <a:rPr lang="ru-RU" sz="2400" dirty="0">
                <a:latin typeface="+mj-lt"/>
              </a:rPr>
              <a:t>Все</a:t>
            </a:r>
            <a:r>
              <a:rPr lang="en-US" sz="2400" dirty="0">
                <a:latin typeface="+mj-lt"/>
              </a:rPr>
              <a:t> ML </a:t>
            </a:r>
            <a:r>
              <a:rPr lang="ru-RU" sz="2400" dirty="0">
                <a:latin typeface="+mj-lt"/>
              </a:rPr>
              <a:t>модели кроме логистической регрессии не выдают истинных вероятностей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2B59D26-AE14-6E6C-05CF-A6CD24DF5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2591117"/>
            <a:ext cx="5810250" cy="383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21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9A786-97DE-B052-1A9F-D7C33173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78CBD-2296-4620-DCD0-AA216631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</a:t>
            </a:r>
            <a:r>
              <a:rPr lang="en-US" dirty="0" err="1"/>
              <a:t>Metalearners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9051F1E-D958-AC02-1152-2428F7CFE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631" y="1395766"/>
            <a:ext cx="7678737" cy="546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57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25D9-7D0F-E543-F20F-ADFD05F1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бъект 2">
            <a:extLst>
              <a:ext uri="{FF2B5EF4-FFF2-40B4-BE49-F238E27FC236}">
                <a16:creationId xmlns:a16="http://schemas.microsoft.com/office/drawing/2014/main" id="{D9CF8924-D74F-3DF8-F134-DB65720CEF6D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+mj-lt"/>
              </a:rPr>
              <a:t>Подход заключается в замене переменной для прогнозирования, а именно</a:t>
            </a:r>
          </a:p>
          <a:p>
            <a:pPr marL="0" indent="0">
              <a:buNone/>
            </a:pPr>
            <a:endParaRPr lang="ru-RU" sz="2400" dirty="0">
              <a:latin typeface="+mj-lt"/>
            </a:endParaRPr>
          </a:p>
          <a:p>
            <a:pPr marL="0" indent="0">
              <a:buNone/>
            </a:pPr>
            <a:r>
              <a:rPr lang="ru-RU" sz="2400" b="0" i="0" dirty="0">
                <a:solidFill>
                  <a:srgbClr val="222222"/>
                </a:solidFill>
                <a:effectLst/>
                <a:latin typeface="+mj-lt"/>
              </a:rPr>
              <a:t>Новая переменная равна 1, когда Y=W и равна нулю, когда Y не равен W. </a:t>
            </a:r>
            <a:endParaRPr lang="ru-RU" sz="2400" dirty="0">
              <a:solidFill>
                <a:srgbClr val="222222"/>
              </a:solidFill>
              <a:latin typeface="+mj-lt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222222"/>
                </a:solidFill>
                <a:latin typeface="+mj-lt"/>
              </a:rPr>
              <a:t>П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+mj-lt"/>
              </a:rPr>
              <a:t>окажем, что при определенных условиях построение прогноза</a:t>
            </a:r>
            <a:r>
              <a:rPr lang="en-US" sz="2400" dirty="0">
                <a:solidFill>
                  <a:srgbClr val="222222"/>
                </a:solidFill>
                <a:latin typeface="+mj-lt"/>
              </a:rPr>
              <a:t> 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P(Z=1|X=x)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+mj-lt"/>
              </a:rPr>
              <a:t> для Z тождественно прогнозированию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pl-PL" sz="2400" b="1" dirty="0">
                <a:solidFill>
                  <a:srgbClr val="222222"/>
                </a:solidFill>
                <a:effectLst/>
                <a:latin typeface="+mj-lt"/>
              </a:rPr>
              <a:t>uplift(X</a:t>
            </a:r>
            <a:r>
              <a:rPr lang="pl-PL" sz="2400" b="1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pl-PL" sz="2400" b="1" dirty="0">
                <a:solidFill>
                  <a:srgbClr val="222222"/>
                </a:solidFill>
                <a:effectLst/>
                <a:latin typeface="+mj-lt"/>
              </a:rPr>
              <a:t>​)=P(Y∣X=</a:t>
            </a:r>
            <a:r>
              <a:rPr lang="en-US" sz="2400" b="1" dirty="0">
                <a:solidFill>
                  <a:srgbClr val="222222"/>
                </a:solidFill>
                <a:latin typeface="+mj-lt"/>
              </a:rPr>
              <a:t>x</a:t>
            </a:r>
            <a:r>
              <a:rPr lang="pl-PL" sz="2400" b="1" baseline="-25000" dirty="0">
                <a:solidFill>
                  <a:srgbClr val="222222"/>
                </a:solidFill>
                <a:effectLst/>
                <a:latin typeface="+mj-lt"/>
              </a:rPr>
              <a:t>​</a:t>
            </a:r>
            <a:r>
              <a:rPr lang="pl-PL" sz="2400" b="1" dirty="0">
                <a:solidFill>
                  <a:srgbClr val="222222"/>
                </a:solidFill>
                <a:effectLst/>
                <a:latin typeface="+mj-lt"/>
              </a:rPr>
              <a:t>,W=1)−P(Y∣X=</a:t>
            </a:r>
            <a:r>
              <a:rPr lang="en-US" sz="2400" b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pl-PL" sz="2400" b="1" baseline="-25000" dirty="0">
                <a:solidFill>
                  <a:srgbClr val="222222"/>
                </a:solidFill>
                <a:effectLst/>
                <a:latin typeface="+mj-lt"/>
              </a:rPr>
              <a:t>​</a:t>
            </a:r>
            <a:r>
              <a:rPr lang="pl-PL" sz="2400" b="1" dirty="0">
                <a:solidFill>
                  <a:srgbClr val="222222"/>
                </a:solidFill>
                <a:effectLst/>
                <a:latin typeface="+mj-lt"/>
              </a:rPr>
              <a:t>,W=0)</a:t>
            </a:r>
            <a:endParaRPr lang="en-US" sz="2400" b="1" dirty="0">
              <a:latin typeface="+mj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A3C71-A954-4284-709D-61B37E38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Подходы к решению задачи</a:t>
            </a:r>
            <a:r>
              <a:rPr lang="en-US" sz="3600" dirty="0"/>
              <a:t>:</a:t>
            </a:r>
            <a:r>
              <a:rPr lang="ru-RU" sz="3600" dirty="0"/>
              <a:t> трансформация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2366D-802D-7F60-FAB8-3517001F6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7512" y="1895476"/>
            <a:ext cx="6276975" cy="488950"/>
          </a:xfrm>
        </p:spPr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b="0" i="1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+mj-lt"/>
              </a:rPr>
              <a:t>​</a:t>
            </a:r>
            <a:r>
              <a:rPr lang="en-US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b="0" i="1" dirty="0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en-US" b="0" i="1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en-US" b="0" i="0" dirty="0">
                <a:solidFill>
                  <a:srgbClr val="222222"/>
                </a:solidFill>
                <a:effectLst/>
                <a:latin typeface="+mj-lt"/>
              </a:rPr>
              <a:t>​∗</a:t>
            </a:r>
            <a:r>
              <a:rPr lang="en-US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en-US" b="0" i="1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en-US" b="0" i="0" dirty="0">
                <a:solidFill>
                  <a:srgbClr val="222222"/>
                </a:solidFill>
                <a:effectLst/>
                <a:latin typeface="+mj-lt"/>
              </a:rPr>
              <a:t>​+(1−</a:t>
            </a:r>
            <a:r>
              <a:rPr lang="en-US" b="0" i="1" dirty="0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en-US" b="0" i="1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en-US" b="0" i="0" dirty="0">
                <a:solidFill>
                  <a:srgbClr val="222222"/>
                </a:solidFill>
                <a:effectLst/>
                <a:latin typeface="+mj-lt"/>
              </a:rPr>
              <a:t>​)∗(1−</a:t>
            </a:r>
            <a:r>
              <a:rPr lang="en-US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en-US" b="0" i="1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en-US" b="0" i="0" dirty="0">
                <a:solidFill>
                  <a:srgbClr val="222222"/>
                </a:solidFill>
                <a:effectLst/>
                <a:latin typeface="+mj-lt"/>
              </a:rPr>
              <a:t>​)</a:t>
            </a:r>
            <a:endParaRPr lang="en-US" b="0" dirty="0">
              <a:solidFill>
                <a:srgbClr val="222222"/>
              </a:solidFill>
              <a:effectLst/>
              <a:latin typeface="+mj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ED3D93-DC5B-8904-E078-1589D0EB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544" y="3642707"/>
            <a:ext cx="4714909" cy="298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36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6BB4-BA6C-8364-019E-756C587E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бъект 2">
            <a:extLst>
              <a:ext uri="{FF2B5EF4-FFF2-40B4-BE49-F238E27FC236}">
                <a16:creationId xmlns:a16="http://schemas.microsoft.com/office/drawing/2014/main" id="{33244B32-9B72-8479-155A-065C47276E6D}"/>
              </a:ext>
            </a:extLst>
          </p:cNvPr>
          <p:cNvSpPr txBox="1">
            <a:spLocks/>
          </p:cNvSpPr>
          <p:nvPr/>
        </p:nvSpPr>
        <p:spPr>
          <a:xfrm>
            <a:off x="838200" y="1467037"/>
            <a:ext cx="10515600" cy="48500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lnSpc>
                <a:spcPct val="120000"/>
              </a:lnSpc>
              <a:buNone/>
            </a:pPr>
            <a:r>
              <a:rPr lang="ru-RU" sz="2600" b="1" dirty="0">
                <a:latin typeface="+mj-lt"/>
              </a:rPr>
              <a:t>Распишем, что такое </a:t>
            </a:r>
            <a:r>
              <a:rPr lang="en-US" sz="2600" b="1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2600" b="1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2600" b="1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sz="2600" b="1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2600" b="1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2600" b="1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2600" b="1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2600" b="1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2600" dirty="0">
                <a:latin typeface="+mj-lt"/>
              </a:rPr>
              <a:t> </a:t>
            </a:r>
            <a:br>
              <a:rPr lang="ru-RU" sz="1800" dirty="0">
                <a:latin typeface="+mj-lt"/>
              </a:rPr>
            </a:b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,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=1)∗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+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,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=0)∗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=0│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en-US" sz="1800" b="1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ru-RU" sz="1800" b="1" i="0" dirty="0">
                <a:solidFill>
                  <a:srgbClr val="222222"/>
                </a:solidFill>
                <a:effectLst/>
                <a:latin typeface="+mj-lt"/>
              </a:rPr>
              <a:t> </a:t>
            </a:r>
          </a:p>
          <a:p>
            <a:pPr marL="0" indent="0" algn="l" rtl="0">
              <a:lnSpc>
                <a:spcPct val="120000"/>
              </a:lnSpc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P(Y=1│X=x,  W=1)∗P(W=1│X=x) + P(Y=0│X=x,</a:t>
            </a:r>
            <a:r>
              <a:rPr lang="en-US" sz="1800" dirty="0">
                <a:solidFill>
                  <a:srgbClr val="222222"/>
                </a:solidFill>
                <a:latin typeface="+mj-lt"/>
              </a:rPr>
              <a:t>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W=0)∗P(W=0│X=x)</a:t>
            </a:r>
          </a:p>
          <a:p>
            <a:pPr marL="0" indent="0" algn="l" rtl="0">
              <a:lnSpc>
                <a:spcPct val="120000"/>
              </a:lnSpc>
              <a:buNone/>
            </a:pPr>
            <a:r>
              <a:rPr lang="ru-RU" sz="1800" dirty="0">
                <a:solidFill>
                  <a:srgbClr val="222222"/>
                </a:solidFill>
                <a:latin typeface="+mj-lt"/>
              </a:rPr>
              <a:t>Отметим, что </a:t>
            </a:r>
            <a:r>
              <a:rPr lang="ru-RU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ru-RU" sz="1800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ru-RU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ru-RU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) = </a:t>
            </a:r>
            <a:r>
              <a:rPr lang="ru-RU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ru-RU" sz="1800" b="0" i="1" dirty="0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=1) и P(W=0│X=x) = P(W=0), так </a:t>
            </a:r>
            <a:r>
              <a:rPr lang="ru-RU" sz="1800" b="1" i="0" dirty="0">
                <a:solidFill>
                  <a:srgbClr val="222222"/>
                </a:solidFill>
                <a:effectLst/>
                <a:latin typeface="+mj-lt"/>
              </a:rPr>
              <a:t>как разбиение на контрольную и целевую группу не зависит от значений признака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. Кроме того, если размер контрольной и целевой группы одинаков, то  P(W=1)=P(W=0)=1/2. </a:t>
            </a:r>
          </a:p>
          <a:p>
            <a:pPr marL="0" indent="0" algn="l" rtl="0">
              <a:lnSpc>
                <a:spcPct val="120000"/>
              </a:lnSpc>
              <a:buNone/>
            </a:pPr>
            <a:r>
              <a:rPr lang="ru-RU" sz="1800" dirty="0">
                <a:solidFill>
                  <a:srgbClr val="222222"/>
                </a:solidFill>
                <a:latin typeface="+mj-lt"/>
              </a:rPr>
              <a:t>Таким образом, </a:t>
            </a:r>
          </a:p>
          <a:p>
            <a:pPr marL="0" indent="0" algn="l" rtl="0">
              <a:lnSpc>
                <a:spcPct val="120000"/>
              </a:lnSpc>
              <a:buNone/>
            </a:pP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= ½ * 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s-ES" sz="1800" b="0" i="1" baseline="30000" dirty="0">
                <a:solidFill>
                  <a:srgbClr val="222222"/>
                </a:solidFill>
                <a:effectLst/>
                <a:latin typeface="+mj-lt"/>
              </a:rPr>
              <a:t>T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 + ½ * 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s-ES" sz="1800" b="0" i="1" baseline="30000" dirty="0">
                <a:solidFill>
                  <a:srgbClr val="222222"/>
                </a:solidFill>
                <a:effectLst/>
                <a:latin typeface="+mj-lt"/>
              </a:rPr>
              <a:t>C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=0│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endParaRPr lang="ru-RU" sz="1800" b="0" i="0" dirty="0">
              <a:solidFill>
                <a:srgbClr val="222222"/>
              </a:solidFill>
              <a:effectLst/>
              <a:latin typeface="+mj-lt"/>
            </a:endParaRPr>
          </a:p>
          <a:p>
            <a:pPr marL="0" indent="0" algn="l" rtl="0">
              <a:lnSpc>
                <a:spcPct val="120000"/>
              </a:lnSpc>
              <a:buNone/>
            </a:pPr>
            <a:r>
              <a:rPr lang="ru-RU" sz="1800" dirty="0">
                <a:solidFill>
                  <a:srgbClr val="222222"/>
                </a:solidFill>
                <a:latin typeface="+mj-lt"/>
              </a:rPr>
              <a:t>2 * 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 = 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s-ES" sz="1800" b="0" i="1" baseline="30000" dirty="0">
                <a:solidFill>
                  <a:srgbClr val="222222"/>
                </a:solidFill>
                <a:effectLst/>
                <a:latin typeface="+mj-lt"/>
              </a:rPr>
              <a:t>T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 + 1 –  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s-ES" sz="1800" b="0" i="1" baseline="30000" dirty="0">
                <a:solidFill>
                  <a:srgbClr val="222222"/>
                </a:solidFill>
                <a:effectLst/>
                <a:latin typeface="+mj-lt"/>
              </a:rPr>
              <a:t>C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1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│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) 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 = </a:t>
            </a:r>
            <a:r>
              <a:rPr lang="es-ES" sz="1800" b="0" i="1" dirty="0">
                <a:solidFill>
                  <a:srgbClr val="222222"/>
                </a:solidFill>
                <a:effectLst/>
                <a:latin typeface="+mj-lt"/>
              </a:rPr>
              <a:t>uplift</a:t>
            </a:r>
            <a:r>
              <a:rPr lang="es-ES" sz="1800" b="0" i="0" dirty="0">
                <a:solidFill>
                  <a:srgbClr val="222222"/>
                </a:solidFill>
                <a:effectLst/>
                <a:latin typeface="+mj-lt"/>
              </a:rPr>
              <a:t>+1</a:t>
            </a:r>
            <a:endParaRPr lang="ru-RU" sz="1800" b="0" i="0" dirty="0">
              <a:solidFill>
                <a:srgbClr val="222222"/>
              </a:solidFill>
              <a:effectLst/>
              <a:latin typeface="+mj-lt"/>
            </a:endParaRPr>
          </a:p>
          <a:p>
            <a:pPr marL="0" indent="0" algn="l" rtl="0">
              <a:lnSpc>
                <a:spcPct val="120000"/>
              </a:lnSpc>
              <a:buNone/>
            </a:pPr>
            <a:r>
              <a:rPr lang="ru-RU" sz="1800" dirty="0">
                <a:solidFill>
                  <a:srgbClr val="222222"/>
                </a:solidFill>
                <a:latin typeface="+mj-lt"/>
              </a:rPr>
              <a:t>Следовательно:</a:t>
            </a:r>
            <a:endParaRPr lang="ru-RU" sz="1800" b="0" i="0" dirty="0">
              <a:solidFill>
                <a:srgbClr val="222222"/>
              </a:solidFill>
              <a:effectLst/>
              <a:latin typeface="+mj-lt"/>
            </a:endParaRPr>
          </a:p>
          <a:p>
            <a:pPr marL="0" indent="0" algn="ctr" rtl="0">
              <a:lnSpc>
                <a:spcPct val="120000"/>
              </a:lnSpc>
              <a:buNone/>
            </a:pPr>
            <a:r>
              <a:rPr lang="es-ES" sz="3000" b="1" i="1" dirty="0" err="1">
                <a:solidFill>
                  <a:srgbClr val="222222"/>
                </a:solidFill>
                <a:effectLst/>
                <a:latin typeface="+mj-lt"/>
              </a:rPr>
              <a:t>uplift</a:t>
            </a:r>
            <a:r>
              <a:rPr lang="ru-RU" sz="3000" b="1" i="1" dirty="0">
                <a:solidFill>
                  <a:srgbClr val="222222"/>
                </a:solidFill>
                <a:effectLst/>
                <a:latin typeface="+mj-lt"/>
              </a:rPr>
              <a:t> = </a:t>
            </a:r>
            <a:r>
              <a:rPr lang="ru-RU" sz="3000" b="1" dirty="0">
                <a:solidFill>
                  <a:srgbClr val="222222"/>
                </a:solidFill>
                <a:latin typeface="+mj-lt"/>
              </a:rPr>
              <a:t>2 * </a:t>
            </a:r>
            <a:r>
              <a:rPr lang="en-US" sz="3000" b="1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en-US" sz="3000" b="1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en-US" sz="3000" b="1" i="1" dirty="0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en-US" sz="3000" b="1" i="0" dirty="0">
                <a:solidFill>
                  <a:srgbClr val="222222"/>
                </a:solidFill>
                <a:effectLst/>
                <a:latin typeface="+mj-lt"/>
              </a:rPr>
              <a:t>=1│</a:t>
            </a:r>
            <a:r>
              <a:rPr lang="en-US" sz="3000" b="1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3000" b="1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en-US" sz="3000" b="1" i="1" dirty="0">
                <a:solidFill>
                  <a:srgbClr val="222222"/>
                </a:solidFill>
                <a:effectLst/>
                <a:latin typeface="+mj-lt"/>
              </a:rPr>
              <a:t>x</a:t>
            </a:r>
            <a:r>
              <a:rPr lang="en-US" sz="3000" b="1" i="0" dirty="0">
                <a:solidFill>
                  <a:srgbClr val="222222"/>
                </a:solidFill>
                <a:effectLst/>
                <a:latin typeface="+mj-lt"/>
              </a:rPr>
              <a:t>)</a:t>
            </a:r>
            <a:r>
              <a:rPr lang="ru-RU" sz="3000" b="1" i="0" dirty="0">
                <a:solidFill>
                  <a:srgbClr val="222222"/>
                </a:solidFill>
                <a:effectLst/>
                <a:latin typeface="+mj-lt"/>
              </a:rPr>
              <a:t> – 1 </a:t>
            </a:r>
            <a:endParaRPr lang="ru-RU" sz="3000" b="1" dirty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A5D6D-6F36-3801-3E15-983FE7AC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Подходы к решению задачи</a:t>
            </a:r>
            <a:r>
              <a:rPr lang="en-US" sz="3600" dirty="0"/>
              <a:t>:</a:t>
            </a:r>
            <a:r>
              <a:rPr lang="ru-RU" sz="3600" dirty="0"/>
              <a:t> трансформация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2449906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7C98-0192-F156-E920-9711C386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бъект 2">
            <a:extLst>
              <a:ext uri="{FF2B5EF4-FFF2-40B4-BE49-F238E27FC236}">
                <a16:creationId xmlns:a16="http://schemas.microsoft.com/office/drawing/2014/main" id="{1EF52303-CF43-CD87-2536-AFC5E784A484}"/>
              </a:ext>
            </a:extLst>
          </p:cNvPr>
          <p:cNvSpPr txBox="1">
            <a:spLocks/>
          </p:cNvSpPr>
          <p:nvPr/>
        </p:nvSpPr>
        <p:spPr>
          <a:xfrm>
            <a:off x="838200" y="1467037"/>
            <a:ext cx="10515600" cy="4850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Обобщение на тот случай, когда размер контрольной и целевой групп не одинаков, а переменная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ru-RU" b="0" i="0" baseline="-25000" dirty="0" err="1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 не является бинарной, выглядит следующим образом:</a:t>
            </a:r>
          </a:p>
          <a:p>
            <a:pPr marL="0" indent="0" algn="ctr" rtl="0">
              <a:buNone/>
            </a:pPr>
            <a:r>
              <a:rPr lang="ru-RU" b="1" i="0" dirty="0" err="1">
                <a:solidFill>
                  <a:srgbClr val="222222"/>
                </a:solidFill>
                <a:effectLst/>
                <a:latin typeface="+mj-lt"/>
              </a:rPr>
              <a:t>Z</a:t>
            </a:r>
            <a:r>
              <a:rPr lang="ru-RU" b="1" i="0" baseline="-25000" dirty="0" err="1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ru-RU" b="1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+mj-lt"/>
              </a:rPr>
              <a:t>Y</a:t>
            </a:r>
            <a:r>
              <a:rPr lang="ru-RU" b="1" i="0" baseline="-25000" dirty="0" err="1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ru-RU" b="1" i="0" dirty="0">
                <a:solidFill>
                  <a:srgbClr val="222222"/>
                </a:solidFill>
                <a:effectLst/>
                <a:latin typeface="+mj-lt"/>
              </a:rPr>
              <a:t>∗(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ru-RU" b="1" i="0" baseline="-25000" dirty="0" err="1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ru-RU" b="1" i="0" dirty="0">
                <a:solidFill>
                  <a:srgbClr val="222222"/>
                </a:solidFill>
                <a:effectLst/>
                <a:latin typeface="+mj-lt"/>
              </a:rPr>
              <a:t>−p)/(p∗(1−p)) </a:t>
            </a:r>
          </a:p>
          <a:p>
            <a:pPr marL="0" indent="0" algn="l" rtl="0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где </a:t>
            </a:r>
            <a:r>
              <a:rPr lang="ru-RU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 − это вероятность отнесения к целевой группе:</a:t>
            </a:r>
            <a:br>
              <a:rPr lang="ru-RU" b="0" i="0" dirty="0">
                <a:solidFill>
                  <a:srgbClr val="222222"/>
                </a:solidFill>
                <a:effectLst/>
                <a:latin typeface="+mj-lt"/>
              </a:rPr>
            </a:b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p = P(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+mj-lt"/>
              </a:rPr>
              <a:t>W</a:t>
            </a:r>
            <a:r>
              <a:rPr lang="ru-RU" b="0" i="0" baseline="-25000" dirty="0" err="1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=1∣X</a:t>
            </a:r>
            <a:r>
              <a:rPr lang="ru-RU" b="0" i="0" baseline="-25000" dirty="0"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=x)</a:t>
            </a:r>
            <a:endParaRPr lang="ru-RU" i="1" dirty="0">
              <a:solidFill>
                <a:srgbClr val="222222"/>
              </a:solidFill>
              <a:latin typeface="+mj-lt"/>
            </a:endParaRPr>
          </a:p>
          <a:p>
            <a:pPr marL="0" indent="0" algn="l" rtl="0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Эту величину можно оценить, как долю объектов с W=1 в выборке. Или обучить модель на Х, W, которая будет прогнозировать </a:t>
            </a:r>
            <a:r>
              <a:rPr lang="ru-RU" b="0" i="1" dirty="0">
                <a:solidFill>
                  <a:srgbClr val="222222"/>
                </a:solidFill>
                <a:effectLst/>
                <a:latin typeface="+mj-lt"/>
              </a:rPr>
              <a:t>p</a:t>
            </a:r>
            <a:r>
              <a:rPr lang="ru-RU" b="0" i="0" dirty="0">
                <a:solidFill>
                  <a:srgbClr val="222222"/>
                </a:solidFill>
                <a:effectLst/>
                <a:latin typeface="+mj-lt"/>
              </a:rPr>
              <a:t> для каждого объекта. После применении формулы получаем новую целевую переменную, можем обучить модель регрессии с функционалом ошибки MSE.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B7322-9CB0-5D0D-91CB-8EF56B7A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Подходы к решению задачи</a:t>
            </a:r>
            <a:r>
              <a:rPr lang="en-US" sz="3600" dirty="0"/>
              <a:t>:</a:t>
            </a:r>
            <a:r>
              <a:rPr lang="ru-RU" sz="3600" dirty="0"/>
              <a:t> трансформация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477605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B740-8D5F-41E9-A1A9-40D05990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8A451-8BEB-EF90-B66B-DEDE9053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Uplift</a:t>
            </a:r>
            <a:r>
              <a:rPr lang="ru-RU" dirty="0"/>
              <a:t>-деревья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DAD290FF-A866-7D5A-A25B-B2E03C086152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+mj-lt"/>
              </a:rPr>
              <a:t>Вспомним, как обучалось обычное решающее дерево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+mj-lt"/>
              </a:rPr>
              <a:t>Выбираем критерий информативности H(R), например энтропию, который некоторым образом характеризует однородность выборки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0" i="0" dirty="0">
                <a:solidFill>
                  <a:srgbClr val="222222"/>
                </a:solidFill>
                <a:effectLst/>
                <a:latin typeface="+mj-lt"/>
              </a:rPr>
              <a:t>Задаём критерий остановки алгоритма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0" i="0" dirty="0">
                <a:solidFill>
                  <a:srgbClr val="222222"/>
                </a:solidFill>
                <a:effectLst/>
                <a:latin typeface="+mj-lt"/>
              </a:rPr>
              <a:t>Жадно перебираем всевозможные признаки и пороги, чтобы максимизировать прирост информации (</a:t>
            </a:r>
            <a:r>
              <a:rPr lang="en-US" sz="2000" dirty="0">
                <a:solidFill>
                  <a:srgbClr val="222222"/>
                </a:solidFill>
                <a:latin typeface="+mj-lt"/>
              </a:rPr>
              <a:t>I</a:t>
            </a:r>
            <a:r>
              <a:rPr lang="ru-RU" sz="2000" b="0" i="0" dirty="0" err="1">
                <a:solidFill>
                  <a:srgbClr val="222222"/>
                </a:solidFill>
                <a:effectLst/>
                <a:latin typeface="+mj-lt"/>
              </a:rPr>
              <a:t>nformation</a:t>
            </a:r>
            <a:r>
              <a:rPr lang="ru-RU" sz="20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2000" dirty="0">
                <a:solidFill>
                  <a:srgbClr val="222222"/>
                </a:solidFill>
                <a:latin typeface="+mj-lt"/>
              </a:rPr>
              <a:t>G</a:t>
            </a:r>
            <a:r>
              <a:rPr lang="ru-RU" sz="2000" b="0" i="0" dirty="0" err="1">
                <a:solidFill>
                  <a:srgbClr val="222222"/>
                </a:solidFill>
                <a:effectLst/>
                <a:latin typeface="+mj-lt"/>
              </a:rPr>
              <a:t>ain</a:t>
            </a:r>
            <a:r>
              <a:rPr lang="ru-RU" sz="2000" b="0" i="0" dirty="0">
                <a:solidFill>
                  <a:srgbClr val="222222"/>
                </a:solidFill>
                <a:effectLst/>
                <a:latin typeface="+mj-lt"/>
              </a:rPr>
              <a:t>). Рекурсивно повторяем процедуру до того момента, как дойдем до точки останова. </a:t>
            </a:r>
            <a:endParaRPr lang="ru-RU" sz="2000" dirty="0">
              <a:solidFill>
                <a:srgbClr val="222222"/>
              </a:solidFill>
              <a:latin typeface="+mj-lt"/>
            </a:endParaRPr>
          </a:p>
          <a:p>
            <a:pPr marL="0" indent="0" algn="ctr">
              <a:buNone/>
            </a:pP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IG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=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H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)−∣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1" baseline="-25000" dirty="0">
                <a:solidFill>
                  <a:srgbClr val="222222"/>
                </a:solidFill>
                <a:effectLst/>
                <a:latin typeface="+mj-lt"/>
              </a:rPr>
              <a:t>l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​/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∣(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H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1" baseline="-25000" dirty="0">
                <a:solidFill>
                  <a:srgbClr val="222222"/>
                </a:solidFill>
                <a:effectLst/>
                <a:latin typeface="+mj-lt"/>
              </a:rPr>
              <a:t>l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​)−∣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1" baseline="-25000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0" baseline="-25000" dirty="0">
                <a:solidFill>
                  <a:srgbClr val="222222"/>
                </a:solidFill>
                <a:effectLst/>
                <a:latin typeface="+mj-lt"/>
              </a:rPr>
              <a:t>​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/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∣∗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H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(</a:t>
            </a:r>
            <a:r>
              <a:rPr lang="pt-BR" sz="2400" b="1" i="1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1" baseline="-25000" dirty="0">
                <a:solidFill>
                  <a:srgbClr val="222222"/>
                </a:solidFill>
                <a:effectLst/>
                <a:latin typeface="+mj-lt"/>
              </a:rPr>
              <a:t>r</a:t>
            </a:r>
            <a:r>
              <a:rPr lang="pt-BR" sz="2400" b="1" i="0" dirty="0">
                <a:solidFill>
                  <a:srgbClr val="222222"/>
                </a:solidFill>
                <a:effectLst/>
                <a:latin typeface="+mj-lt"/>
              </a:rPr>
              <a:t>​)</a:t>
            </a:r>
            <a:endParaRPr lang="ru-RU" sz="2400" b="1" dirty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7D6E01-3804-EC9E-3737-C23F3EDF0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737" y="4348842"/>
            <a:ext cx="5788526" cy="239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726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39D9-A76C-E01A-6071-41A057AF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65068-EDF4-AEC4-57D0-A216FFE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задачи</a:t>
            </a:r>
            <a:r>
              <a:rPr lang="en-US" dirty="0"/>
              <a:t>: Uplift</a:t>
            </a:r>
            <a:r>
              <a:rPr lang="ru-RU" dirty="0"/>
              <a:t>-деревья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278653DA-DEF9-5EC5-DE34-60EEEB799611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+mj-lt"/>
              </a:rPr>
              <a:t>Аналогично можно поступить для решения задачи </a:t>
            </a:r>
            <a:r>
              <a:rPr lang="en-US" sz="2000" dirty="0">
                <a:latin typeface="+mj-lt"/>
              </a:rPr>
              <a:t>Uplift</a:t>
            </a:r>
            <a:r>
              <a:rPr lang="ru-RU" sz="2000" dirty="0">
                <a:latin typeface="+mj-lt"/>
              </a:rPr>
              <a:t> только выбрав другие критерии:</a:t>
            </a:r>
          </a:p>
          <a:p>
            <a:pPr marL="0" indent="0">
              <a:buNone/>
            </a:pPr>
            <a:endParaRPr lang="ru-RU" sz="2400" dirty="0">
              <a:latin typeface="+mj-lt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534218-0296-2E98-3E99-98027960C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171" y="3353819"/>
            <a:ext cx="8370085" cy="343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901BBE5-E25E-8E53-94E4-AEF46AEB3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84501"/>
            <a:ext cx="4748439" cy="76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645FD2-FBB0-91C9-498C-8E30B969F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04" y="1862199"/>
            <a:ext cx="5241725" cy="4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13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1878-FFCC-9287-108A-99B23968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CDDFB-4F11-E2A5-604F-A0AD3F3C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качества моделей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FE782F41-4C2A-665E-E7B4-A0AFD1C515D5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+mj-lt"/>
              </a:rPr>
              <a:t>Основная сложность – нет правильных ответов. Соответственно </a:t>
            </a:r>
            <a:r>
              <a:rPr lang="en-US" sz="1800" dirty="0">
                <a:latin typeface="+mj-lt"/>
              </a:rPr>
              <a:t>y</a:t>
            </a:r>
            <a:r>
              <a:rPr lang="ru-RU" sz="1800" dirty="0">
                <a:latin typeface="+mj-lt"/>
              </a:rPr>
              <a:t> нет возможности оценить качество моделей привычным образом. 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Uplift curve </a:t>
            </a:r>
            <a:r>
              <a:rPr lang="ru-RU" sz="1800" b="1" dirty="0">
                <a:latin typeface="+mj-lt"/>
              </a:rPr>
              <a:t>и </a:t>
            </a:r>
            <a:r>
              <a:rPr lang="en-US" sz="1800" b="1" dirty="0" err="1">
                <a:latin typeface="+mj-lt"/>
              </a:rPr>
              <a:t>Qini</a:t>
            </a:r>
            <a:r>
              <a:rPr lang="en-US" sz="1800" b="1" dirty="0">
                <a:latin typeface="+mj-lt"/>
              </a:rPr>
              <a:t> curve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Отсортируем значения выборки по предсказанному </a:t>
            </a:r>
            <a:r>
              <a:rPr lang="ru-RU" sz="1800" b="0" i="0" dirty="0" err="1">
                <a:solidFill>
                  <a:srgbClr val="222222"/>
                </a:solidFill>
                <a:effectLst/>
                <a:latin typeface="+mj-lt"/>
              </a:rPr>
              <a:t>uplift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+mj-lt"/>
              </a:rPr>
              <a:t>. Затем будем идти данной таблице расширяющимся окном, верхняя часть которого фиксирована и находится наверху таблицы, а нижняя часть постепенно увеличивается, соответственно, растёт и количество объектов, попавших в окно. Для каждого размера окна мы вычисляем следующее значение</a:t>
            </a:r>
            <a:r>
              <a:rPr lang="ru-RU" sz="1800" dirty="0">
                <a:solidFill>
                  <a:srgbClr val="222222"/>
                </a:solidFill>
                <a:latin typeface="+mj-lt"/>
              </a:rPr>
              <a:t>:</a:t>
            </a:r>
            <a:r>
              <a:rPr lang="en-US" sz="1800" dirty="0">
                <a:latin typeface="+mj-lt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403D3C-85D1-A2C0-CE0A-8FE11315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69" y="3702065"/>
            <a:ext cx="10328462" cy="164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01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C668-1CB4-6B8F-1C9C-82B5ACAA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9A983-61CC-7FCA-3E66-48E81291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качества моделей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A90105D-70EA-4BF5-675E-4EF0AB07C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441" y="1401278"/>
            <a:ext cx="5027159" cy="390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AB7DA7E-D058-92C0-ED1A-4B1E50E3C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85" y="1394625"/>
            <a:ext cx="5199515" cy="390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DF437-70F1-5185-3F10-7014644724A7}"/>
              </a:ext>
            </a:extLst>
          </p:cNvPr>
          <p:cNvSpPr txBox="1"/>
          <p:nvPr/>
        </p:nvSpPr>
        <p:spPr>
          <a:xfrm>
            <a:off x="838201" y="5254437"/>
            <a:ext cx="105155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Фактически, эти кривые показывают то, насколько сильно отличаются друг от друга целевая и контрольная группы (по суммарному, "усредненному" значению 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+mj-lt"/>
              </a:rPr>
              <a:t>таргета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). То есть если никаких отличий нет, то и 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+mj-lt"/>
              </a:rPr>
              <a:t>uplift_curve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(t)</a:t>
            </a:r>
            <a:r>
              <a:rPr lang="ru-RU" sz="1600" b="0" i="1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и 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+mj-lt"/>
              </a:rPr>
              <a:t>qini_curve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(t)</a:t>
            </a:r>
            <a:r>
              <a:rPr lang="ru-RU" sz="1600" b="0" i="1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будут примерно равны нулю, что соответствует 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+mj-lt"/>
              </a:rPr>
              <a:t>рандомной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 модели.</a:t>
            </a:r>
            <a:endParaRPr lang="en-US" sz="1600" b="0" i="0" dirty="0">
              <a:solidFill>
                <a:srgbClr val="222222"/>
              </a:solidFill>
              <a:effectLst/>
              <a:latin typeface="+mj-lt"/>
            </a:endParaRPr>
          </a:p>
          <a:p>
            <a:pPr algn="l" rtl="0"/>
            <a:r>
              <a:rPr lang="ru-RU" sz="1600" b="0" i="0" dirty="0">
                <a:solidFill>
                  <a:srgbClr val="222222"/>
                </a:solidFill>
                <a:effectLst/>
                <a:latin typeface="+mj-lt"/>
              </a:rPr>
              <a:t>В </a:t>
            </a:r>
            <a:r>
              <a:rPr lang="ru-RU" sz="1600" dirty="0">
                <a:solidFill>
                  <a:srgbClr val="222222"/>
                </a:solidFill>
                <a:latin typeface="+mj-lt"/>
              </a:rPr>
              <a:t>качестве числовой оценки качества модели используется площадь под этими кривыми</a:t>
            </a:r>
            <a:r>
              <a:rPr lang="en-US" sz="1600" dirty="0">
                <a:solidFill>
                  <a:srgbClr val="222222"/>
                </a:solidFill>
                <a:latin typeface="+mj-lt"/>
              </a:rPr>
              <a:t>: </a:t>
            </a:r>
            <a:r>
              <a:rPr lang="en-US" sz="1600" dirty="0" err="1">
                <a:solidFill>
                  <a:srgbClr val="222222"/>
                </a:solidFill>
                <a:latin typeface="+mj-lt"/>
              </a:rPr>
              <a:t>Qini_auc_score</a:t>
            </a:r>
            <a:r>
              <a:rPr lang="en-US" sz="1600" dirty="0">
                <a:solidFill>
                  <a:srgbClr val="222222"/>
                </a:solidFill>
                <a:latin typeface="+mj-lt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+mj-lt"/>
              </a:rPr>
              <a:t>и </a:t>
            </a:r>
            <a:r>
              <a:rPr lang="en-US" sz="1600" dirty="0" err="1">
                <a:solidFill>
                  <a:srgbClr val="222222"/>
                </a:solidFill>
                <a:latin typeface="+mj-lt"/>
              </a:rPr>
              <a:t>Uplift_auc_score</a:t>
            </a:r>
            <a:endParaRPr lang="ru-RU" sz="1600" b="0" i="0" dirty="0">
              <a:solidFill>
                <a:srgbClr val="22222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3791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477E-BAC2-8A35-5D91-0F5303053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93A7E-472A-3BA7-0F91-E75C3683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09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Практика – особенности построения </a:t>
            </a:r>
            <a:r>
              <a:rPr lang="en-US" b="1" dirty="0"/>
              <a:t>Uplift</a:t>
            </a:r>
            <a:r>
              <a:rPr lang="ru-RU" b="1" dirty="0"/>
              <a:t> моделей</a:t>
            </a:r>
            <a:r>
              <a:rPr lang="en-US" b="1" dirty="0"/>
              <a:t> </a:t>
            </a:r>
            <a:endParaRPr lang="ru-RU" b="1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1443FE0C-63FC-97BD-211D-69E70C76B3F0}"/>
              </a:ext>
            </a:extLst>
          </p:cNvPr>
          <p:cNvSpPr txBox="1">
            <a:spLocks/>
          </p:cNvSpPr>
          <p:nvPr/>
        </p:nvSpPr>
        <p:spPr>
          <a:xfrm>
            <a:off x="838200" y="14670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0314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A8DB1-48E5-2A43-A155-BC8C2C62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E16793-5DBD-48C7-0717-A9919D12E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/>
              <a:t>tg:</a:t>
            </a:r>
            <a:r>
              <a:rPr lang="ru-RU" sz="5400" dirty="0"/>
              <a:t> </a:t>
            </a:r>
            <a:r>
              <a:rPr lang="en-US" sz="5400" dirty="0"/>
              <a:t>@art290790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394980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1433</Words>
  <Application>Microsoft Office PowerPoint</Application>
  <PresentationFormat>Широкоэкранный</PresentationFormat>
  <Paragraphs>101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Тема Office</vt:lpstr>
      <vt:lpstr>UPLIFT-моделирование</vt:lpstr>
      <vt:lpstr>Обо мне</vt:lpstr>
      <vt:lpstr>План</vt:lpstr>
      <vt:lpstr>Recap</vt:lpstr>
      <vt:lpstr>Uplift и классические задачи</vt:lpstr>
      <vt:lpstr>Флаг коммуникации</vt:lpstr>
      <vt:lpstr>Подходы к решению задачи: Metalearners</vt:lpstr>
      <vt:lpstr>Подходы к решению задачи: Metalearners</vt:lpstr>
      <vt:lpstr>Практика – построение первой Uplift модели</vt:lpstr>
      <vt:lpstr>Подходы к решению задачи: Metalearners</vt:lpstr>
      <vt:lpstr>Подходы к решению задачи: Metalearners</vt:lpstr>
      <vt:lpstr>Подходы к решению задачи: Metalearners</vt:lpstr>
      <vt:lpstr>Подходы к решению задачи: Metalearners</vt:lpstr>
      <vt:lpstr>Подходы к решению задачи: трансформация классов</vt:lpstr>
      <vt:lpstr>Подходы к решению задачи: трансформация классов</vt:lpstr>
      <vt:lpstr>Подходы к решению задачи: трансформация классов</vt:lpstr>
      <vt:lpstr>Подходы к решению задачи: Uplift-деревья</vt:lpstr>
      <vt:lpstr>Подходы к решению задачи: Uplift-деревья</vt:lpstr>
      <vt:lpstr>Метрики качества моделей</vt:lpstr>
      <vt:lpstr>Метрики качества моделей</vt:lpstr>
      <vt:lpstr>Практика – особенности построения Uplift моделей 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Savelev</dc:creator>
  <cp:lastModifiedBy>Artem Savelev</cp:lastModifiedBy>
  <cp:revision>9</cp:revision>
  <dcterms:created xsi:type="dcterms:W3CDTF">2025-02-03T18:50:52Z</dcterms:created>
  <dcterms:modified xsi:type="dcterms:W3CDTF">2025-02-08T05:51:43Z</dcterms:modified>
</cp:coreProperties>
</file>